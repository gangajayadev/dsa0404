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14F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9692640" y="-1188720"/>
            <a:ext cx="3840481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-1280161" y="4571999"/>
            <a:ext cx="3291842" cy="3291842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3009" y="77585"/>
            <a:ext cx="2265982" cy="226598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2"/>
          <p:cNvSpPr txBox="1"/>
          <p:nvPr/>
        </p:nvSpPr>
        <p:spPr>
          <a:xfrm>
            <a:off x="45719" y="2455743"/>
            <a:ext cx="120700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pc="300" sz="1600">
                <a:solidFill>
                  <a:srgbClr val="02C39A"/>
                </a:solidFill>
              </a:defRPr>
            </a:lvl1pPr>
          </a:lstStyle>
          <a:p>
            <a:pPr/>
            <a:r>
              <a:t>DATA SCIENCE ESSENTIALS</a:t>
            </a:r>
          </a:p>
        </p:txBody>
      </p:sp>
      <p:sp>
        <p:nvSpPr>
          <p:cNvPr id="24" name="Text 3"/>
          <p:cNvSpPr txBox="1"/>
          <p:nvPr/>
        </p:nvSpPr>
        <p:spPr>
          <a:xfrm>
            <a:off x="777239" y="2871469"/>
            <a:ext cx="10607042" cy="840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5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Data Manipulation with Pandas</a:t>
            </a:r>
          </a:p>
        </p:txBody>
      </p:sp>
      <p:sp>
        <p:nvSpPr>
          <p:cNvPr id="25" name="Text 4"/>
          <p:cNvSpPr txBox="1"/>
          <p:nvPr/>
        </p:nvSpPr>
        <p:spPr>
          <a:xfrm>
            <a:off x="1417320" y="3898989"/>
            <a:ext cx="932688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2000">
                <a:solidFill>
                  <a:srgbClr val="CFE8E6"/>
                </a:solidFill>
              </a:defRPr>
            </a:lvl1pPr>
          </a:lstStyle>
          <a:p>
            <a:pPr/>
            <a:r>
              <a:t>A practical, hands-on tour of Python’s most powerful data-wrangling library</a:t>
            </a:r>
          </a:p>
        </p:txBody>
      </p:sp>
      <p:sp>
        <p:nvSpPr>
          <p:cNvPr id="26" name="Shape 5"/>
          <p:cNvSpPr/>
          <p:nvPr/>
        </p:nvSpPr>
        <p:spPr>
          <a:xfrm>
            <a:off x="5394959" y="4617720"/>
            <a:ext cx="1371601" cy="1"/>
          </a:xfrm>
          <a:prstGeom prst="line">
            <a:avLst/>
          </a:prstGeom>
          <a:ln w="25400">
            <a:solidFill>
              <a:srgbClr val="02C39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6"/>
          <p:cNvSpPr txBox="1"/>
          <p:nvPr/>
        </p:nvSpPr>
        <p:spPr>
          <a:xfrm>
            <a:off x="45719" y="6189937"/>
            <a:ext cx="12070082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900">
                <a:solidFill>
                  <a:srgbClr val="9FC7C5"/>
                </a:solidFill>
              </a:defRPr>
            </a:lvl1pPr>
          </a:lstStyle>
          <a:p>
            <a:pPr/>
            <a:r>
              <a:t>B. Ganga Jayadev Reddy(192472248)    |      DSA0404-FODS      |      29-07-2026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/>
        </p:nvSpPr>
        <p:spPr>
          <a:xfrm>
            <a:off x="594360" y="448309"/>
            <a:ext cx="12801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CFE3E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0" name="Text 1"/>
          <p:cNvSpPr txBox="1"/>
          <p:nvPr/>
        </p:nvSpPr>
        <p:spPr>
          <a:xfrm>
            <a:off x="594360" y="725169"/>
            <a:ext cx="72237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>
                <a:solidFill>
                  <a:srgbClr val="0B2B2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What is Pandas?</a:t>
            </a:r>
          </a:p>
        </p:txBody>
      </p:sp>
      <p:sp>
        <p:nvSpPr>
          <p:cNvPr id="31" name="Shape 2"/>
          <p:cNvSpPr/>
          <p:nvPr/>
        </p:nvSpPr>
        <p:spPr>
          <a:xfrm>
            <a:off x="548640" y="1600200"/>
            <a:ext cx="6035041" cy="4434841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3EEEC"/>
            </a:solidFill>
          </a:ln>
          <a:effectLst>
            <a:outerShdw sx="100000" sy="100000" kx="0" ky="0" algn="b" rotWithShape="0" blurRad="101600" dist="38100" dir="5400000">
              <a:srgbClr val="5C7A7C">
                <a:alpha val="1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" name="Text 3"/>
          <p:cNvSpPr txBox="1"/>
          <p:nvPr/>
        </p:nvSpPr>
        <p:spPr>
          <a:xfrm>
            <a:off x="960119" y="1963509"/>
            <a:ext cx="5212082" cy="644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014F53"/>
                </a:solidFill>
              </a:defRPr>
            </a:lvl1pPr>
          </a:lstStyle>
          <a:p>
            <a:pPr/>
            <a:r>
              <a:t>An open-source Python library for fast, flexible, and expressive data structures.</a:t>
            </a:r>
          </a:p>
        </p:txBody>
      </p:sp>
      <p:sp>
        <p:nvSpPr>
          <p:cNvPr id="33" name="Text 4"/>
          <p:cNvSpPr txBox="1"/>
          <p:nvPr/>
        </p:nvSpPr>
        <p:spPr>
          <a:xfrm>
            <a:off x="960119" y="2834639"/>
            <a:ext cx="5212082" cy="2626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spcBef>
                <a:spcPts val="1200"/>
              </a:spcBef>
              <a:buSzPct val="100000"/>
              <a:buChar char="●"/>
              <a:defRPr sz="2000">
                <a:solidFill>
                  <a:srgbClr val="0B2B2D"/>
                </a:solidFill>
              </a:defRPr>
            </a:pPr>
            <a:r>
              <a:t>Built on top of NumPy for high performance</a:t>
            </a:r>
          </a:p>
          <a:p>
            <a:pPr marL="228600" indent="-228600">
              <a:spcBef>
                <a:spcPts val="1200"/>
              </a:spcBef>
              <a:buSzPct val="100000"/>
              <a:buChar char="●"/>
              <a:defRPr sz="2000">
                <a:solidFill>
                  <a:srgbClr val="0B2B2D"/>
                </a:solidFill>
              </a:defRPr>
            </a:pPr>
            <a:r>
              <a:t>Provides two core structures: Series (1D) and DataFrame (2D)</a:t>
            </a:r>
          </a:p>
          <a:p>
            <a:pPr marL="228600" indent="-228600">
              <a:spcBef>
                <a:spcPts val="1200"/>
              </a:spcBef>
              <a:buSzPct val="100000"/>
              <a:buChar char="●"/>
              <a:defRPr sz="2000">
                <a:solidFill>
                  <a:srgbClr val="0B2B2D"/>
                </a:solidFill>
              </a:defRPr>
            </a:pPr>
            <a:r>
              <a:t>Designed to make working with tabular, labeled data intuitive</a:t>
            </a:r>
          </a:p>
          <a:p>
            <a:pPr marL="228600" indent="-228600">
              <a:spcBef>
                <a:spcPts val="1200"/>
              </a:spcBef>
              <a:buSzPct val="100000"/>
              <a:buChar char="●"/>
              <a:defRPr sz="2000">
                <a:solidFill>
                  <a:srgbClr val="0B2B2D"/>
                </a:solidFill>
              </a:defRPr>
            </a:pPr>
            <a:r>
              <a:t>Handles messy, real-world data — missing values, mixed types, large files</a:t>
            </a:r>
          </a:p>
        </p:txBody>
      </p:sp>
      <p:sp>
        <p:nvSpPr>
          <p:cNvPr id="34" name="Shape 5"/>
          <p:cNvSpPr/>
          <p:nvPr/>
        </p:nvSpPr>
        <p:spPr>
          <a:xfrm>
            <a:off x="6858000" y="1600200"/>
            <a:ext cx="4754880" cy="4434841"/>
          </a:xfrm>
          <a:prstGeom prst="roundRect">
            <a:avLst>
              <a:gd name="adj" fmla="val 2474"/>
            </a:avLst>
          </a:prstGeom>
          <a:solidFill>
            <a:srgbClr val="014F5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6"/>
          <p:cNvSpPr txBox="1"/>
          <p:nvPr/>
        </p:nvSpPr>
        <p:spPr>
          <a:xfrm>
            <a:off x="7223760" y="1861383"/>
            <a:ext cx="40233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600">
                <a:solidFill>
                  <a:srgbClr val="CFE8E6"/>
                </a:solidFill>
              </a:defRPr>
            </a:lvl1pPr>
          </a:lstStyle>
          <a:p>
            <a:pPr/>
            <a:r>
              <a:t>A DataFrame looks like this:</a:t>
            </a:r>
          </a:p>
        </p:txBody>
      </p:sp>
      <p:sp>
        <p:nvSpPr>
          <p:cNvPr id="36" name="Shape 7"/>
          <p:cNvSpPr/>
          <p:nvPr/>
        </p:nvSpPr>
        <p:spPr>
          <a:xfrm>
            <a:off x="7178040" y="2331720"/>
            <a:ext cx="1417321" cy="457201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8"/>
          <p:cNvSpPr txBox="1"/>
          <p:nvPr/>
        </p:nvSpPr>
        <p:spPr>
          <a:xfrm>
            <a:off x="7178040" y="2455743"/>
            <a:ext cx="1417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14F53"/>
                </a:solidFill>
              </a:defRPr>
            </a:lvl1pPr>
          </a:lstStyle>
          <a:p>
            <a:pPr/>
            <a:r>
              <a:t>Name</a:t>
            </a:r>
          </a:p>
        </p:txBody>
      </p:sp>
      <p:sp>
        <p:nvSpPr>
          <p:cNvPr id="38" name="Shape 9"/>
          <p:cNvSpPr/>
          <p:nvPr/>
        </p:nvSpPr>
        <p:spPr>
          <a:xfrm>
            <a:off x="8595359" y="2331720"/>
            <a:ext cx="914401" cy="457201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10"/>
          <p:cNvSpPr txBox="1"/>
          <p:nvPr/>
        </p:nvSpPr>
        <p:spPr>
          <a:xfrm>
            <a:off x="8595359" y="2455743"/>
            <a:ext cx="914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14F53"/>
                </a:solidFill>
              </a:defRPr>
            </a:lvl1pPr>
          </a:lstStyle>
          <a:p>
            <a:pPr/>
            <a:r>
              <a:t>Age</a:t>
            </a:r>
          </a:p>
        </p:txBody>
      </p:sp>
      <p:sp>
        <p:nvSpPr>
          <p:cNvPr id="40" name="Shape 11"/>
          <p:cNvSpPr/>
          <p:nvPr/>
        </p:nvSpPr>
        <p:spPr>
          <a:xfrm>
            <a:off x="9509759" y="2331720"/>
            <a:ext cx="1417321" cy="457201"/>
          </a:xfrm>
          <a:prstGeom prst="rect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12"/>
          <p:cNvSpPr txBox="1"/>
          <p:nvPr/>
        </p:nvSpPr>
        <p:spPr>
          <a:xfrm>
            <a:off x="9509759" y="2455743"/>
            <a:ext cx="1417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14F53"/>
                </a:solidFill>
              </a:defRPr>
            </a:lvl1pPr>
          </a:lstStyle>
          <a:p>
            <a:pPr/>
            <a:r>
              <a:t>City</a:t>
            </a:r>
          </a:p>
        </p:txBody>
      </p:sp>
      <p:sp>
        <p:nvSpPr>
          <p:cNvPr id="42" name="Shape 13"/>
          <p:cNvSpPr/>
          <p:nvPr/>
        </p:nvSpPr>
        <p:spPr>
          <a:xfrm>
            <a:off x="7178040" y="2788920"/>
            <a:ext cx="1417321" cy="457201"/>
          </a:xfrm>
          <a:prstGeom prst="rect">
            <a:avLst/>
          </a:prstGeom>
          <a:solidFill>
            <a:srgbClr val="0B5C61"/>
          </a:solidFill>
          <a:ln>
            <a:solidFill>
              <a:srgbClr val="014F5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14"/>
          <p:cNvSpPr txBox="1"/>
          <p:nvPr/>
        </p:nvSpPr>
        <p:spPr>
          <a:xfrm>
            <a:off x="7178040" y="2912943"/>
            <a:ext cx="1417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Asha</a:t>
            </a:r>
          </a:p>
        </p:txBody>
      </p:sp>
      <p:sp>
        <p:nvSpPr>
          <p:cNvPr id="44" name="Shape 15"/>
          <p:cNvSpPr/>
          <p:nvPr/>
        </p:nvSpPr>
        <p:spPr>
          <a:xfrm>
            <a:off x="8595359" y="2788920"/>
            <a:ext cx="914401" cy="457201"/>
          </a:xfrm>
          <a:prstGeom prst="rect">
            <a:avLst/>
          </a:prstGeom>
          <a:solidFill>
            <a:srgbClr val="0B5C61"/>
          </a:solidFill>
          <a:ln>
            <a:solidFill>
              <a:srgbClr val="014F5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" name="Text 16"/>
          <p:cNvSpPr txBox="1"/>
          <p:nvPr/>
        </p:nvSpPr>
        <p:spPr>
          <a:xfrm>
            <a:off x="8595359" y="2912943"/>
            <a:ext cx="914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29</a:t>
            </a:r>
          </a:p>
        </p:txBody>
      </p:sp>
      <p:sp>
        <p:nvSpPr>
          <p:cNvPr id="46" name="Shape 17"/>
          <p:cNvSpPr/>
          <p:nvPr/>
        </p:nvSpPr>
        <p:spPr>
          <a:xfrm>
            <a:off x="9509759" y="2788920"/>
            <a:ext cx="1417321" cy="457201"/>
          </a:xfrm>
          <a:prstGeom prst="rect">
            <a:avLst/>
          </a:prstGeom>
          <a:solidFill>
            <a:srgbClr val="0B5C61"/>
          </a:solidFill>
          <a:ln>
            <a:solidFill>
              <a:srgbClr val="014F5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8"/>
          <p:cNvSpPr txBox="1"/>
          <p:nvPr/>
        </p:nvSpPr>
        <p:spPr>
          <a:xfrm>
            <a:off x="9509759" y="2912943"/>
            <a:ext cx="1417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Pune</a:t>
            </a:r>
          </a:p>
        </p:txBody>
      </p:sp>
      <p:sp>
        <p:nvSpPr>
          <p:cNvPr id="48" name="Shape 19"/>
          <p:cNvSpPr/>
          <p:nvPr/>
        </p:nvSpPr>
        <p:spPr>
          <a:xfrm>
            <a:off x="7178040" y="3246120"/>
            <a:ext cx="1417321" cy="457201"/>
          </a:xfrm>
          <a:prstGeom prst="rect">
            <a:avLst/>
          </a:prstGeom>
          <a:solidFill>
            <a:srgbClr val="0F686D"/>
          </a:solidFill>
          <a:ln>
            <a:solidFill>
              <a:srgbClr val="014F5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20"/>
          <p:cNvSpPr txBox="1"/>
          <p:nvPr/>
        </p:nvSpPr>
        <p:spPr>
          <a:xfrm>
            <a:off x="7178040" y="3370143"/>
            <a:ext cx="1417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Ravi</a:t>
            </a:r>
          </a:p>
        </p:txBody>
      </p:sp>
      <p:sp>
        <p:nvSpPr>
          <p:cNvPr id="50" name="Shape 21"/>
          <p:cNvSpPr/>
          <p:nvPr/>
        </p:nvSpPr>
        <p:spPr>
          <a:xfrm>
            <a:off x="8595359" y="3246120"/>
            <a:ext cx="914401" cy="457201"/>
          </a:xfrm>
          <a:prstGeom prst="rect">
            <a:avLst/>
          </a:prstGeom>
          <a:solidFill>
            <a:srgbClr val="0F686D"/>
          </a:solidFill>
          <a:ln>
            <a:solidFill>
              <a:srgbClr val="014F5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22"/>
          <p:cNvSpPr txBox="1"/>
          <p:nvPr/>
        </p:nvSpPr>
        <p:spPr>
          <a:xfrm>
            <a:off x="8595359" y="3370143"/>
            <a:ext cx="914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34</a:t>
            </a:r>
          </a:p>
        </p:txBody>
      </p:sp>
      <p:sp>
        <p:nvSpPr>
          <p:cNvPr id="52" name="Shape 23"/>
          <p:cNvSpPr/>
          <p:nvPr/>
        </p:nvSpPr>
        <p:spPr>
          <a:xfrm>
            <a:off x="9509759" y="3246120"/>
            <a:ext cx="1417321" cy="457201"/>
          </a:xfrm>
          <a:prstGeom prst="rect">
            <a:avLst/>
          </a:prstGeom>
          <a:solidFill>
            <a:srgbClr val="0F686D"/>
          </a:solidFill>
          <a:ln>
            <a:solidFill>
              <a:srgbClr val="014F5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24"/>
          <p:cNvSpPr txBox="1"/>
          <p:nvPr/>
        </p:nvSpPr>
        <p:spPr>
          <a:xfrm>
            <a:off x="9509759" y="3370143"/>
            <a:ext cx="1417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Delhi</a:t>
            </a:r>
          </a:p>
        </p:txBody>
      </p:sp>
      <p:sp>
        <p:nvSpPr>
          <p:cNvPr id="54" name="Shape 25"/>
          <p:cNvSpPr/>
          <p:nvPr/>
        </p:nvSpPr>
        <p:spPr>
          <a:xfrm>
            <a:off x="7178040" y="3703320"/>
            <a:ext cx="1417321" cy="457201"/>
          </a:xfrm>
          <a:prstGeom prst="rect">
            <a:avLst/>
          </a:prstGeom>
          <a:solidFill>
            <a:srgbClr val="0B5C61"/>
          </a:solidFill>
          <a:ln>
            <a:solidFill>
              <a:srgbClr val="014F5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26"/>
          <p:cNvSpPr txBox="1"/>
          <p:nvPr/>
        </p:nvSpPr>
        <p:spPr>
          <a:xfrm>
            <a:off x="7178040" y="3827343"/>
            <a:ext cx="1417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Meera</a:t>
            </a:r>
          </a:p>
        </p:txBody>
      </p:sp>
      <p:sp>
        <p:nvSpPr>
          <p:cNvPr id="56" name="Shape 27"/>
          <p:cNvSpPr/>
          <p:nvPr/>
        </p:nvSpPr>
        <p:spPr>
          <a:xfrm>
            <a:off x="8595359" y="3703320"/>
            <a:ext cx="914401" cy="457201"/>
          </a:xfrm>
          <a:prstGeom prst="rect">
            <a:avLst/>
          </a:prstGeom>
          <a:solidFill>
            <a:srgbClr val="0B5C61"/>
          </a:solidFill>
          <a:ln>
            <a:solidFill>
              <a:srgbClr val="014F5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28"/>
          <p:cNvSpPr txBox="1"/>
          <p:nvPr/>
        </p:nvSpPr>
        <p:spPr>
          <a:xfrm>
            <a:off x="8595359" y="3827343"/>
            <a:ext cx="9144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41</a:t>
            </a:r>
          </a:p>
        </p:txBody>
      </p:sp>
      <p:sp>
        <p:nvSpPr>
          <p:cNvPr id="58" name="Shape 29"/>
          <p:cNvSpPr/>
          <p:nvPr/>
        </p:nvSpPr>
        <p:spPr>
          <a:xfrm>
            <a:off x="9509759" y="3703320"/>
            <a:ext cx="1417321" cy="457201"/>
          </a:xfrm>
          <a:prstGeom prst="rect">
            <a:avLst/>
          </a:prstGeom>
          <a:solidFill>
            <a:srgbClr val="0B5C61"/>
          </a:solidFill>
          <a:ln>
            <a:solidFill>
              <a:srgbClr val="014F5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30"/>
          <p:cNvSpPr txBox="1"/>
          <p:nvPr/>
        </p:nvSpPr>
        <p:spPr>
          <a:xfrm>
            <a:off x="9509759" y="3827343"/>
            <a:ext cx="141732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Chennai</a:t>
            </a:r>
          </a:p>
        </p:txBody>
      </p:sp>
      <p:sp>
        <p:nvSpPr>
          <p:cNvPr id="60" name="Text 31"/>
          <p:cNvSpPr txBox="1"/>
          <p:nvPr/>
        </p:nvSpPr>
        <p:spPr>
          <a:xfrm>
            <a:off x="7223760" y="4604583"/>
            <a:ext cx="40233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CFE8E6"/>
                </a:solidFill>
              </a:defRPr>
            </a:lvl1pPr>
          </a:lstStyle>
          <a:p>
            <a:pPr/>
            <a:r>
              <a:t>Rows = observations   •   Columns = variables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 txBox="1"/>
          <p:nvPr/>
        </p:nvSpPr>
        <p:spPr>
          <a:xfrm>
            <a:off x="594360" y="448309"/>
            <a:ext cx="12801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CFE3E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63" name="Text 1"/>
          <p:cNvSpPr txBox="1"/>
          <p:nvPr/>
        </p:nvSpPr>
        <p:spPr>
          <a:xfrm>
            <a:off x="594360" y="706120"/>
            <a:ext cx="7223761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400">
                <a:solidFill>
                  <a:srgbClr val="0B2B2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Why Use Pandas?</a:t>
            </a:r>
          </a:p>
        </p:txBody>
      </p:sp>
      <p:sp>
        <p:nvSpPr>
          <p:cNvPr id="64" name="Text 2"/>
          <p:cNvSpPr txBox="1"/>
          <p:nvPr/>
        </p:nvSpPr>
        <p:spPr>
          <a:xfrm>
            <a:off x="594360" y="1247229"/>
            <a:ext cx="90525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2000">
                <a:solidFill>
                  <a:srgbClr val="5C7A7C"/>
                </a:solidFill>
              </a:defRPr>
            </a:lvl1pPr>
          </a:lstStyle>
          <a:p>
            <a:pPr/>
            <a:r>
              <a:t>Four reasons it’s the go-to tool for data analysts and scientists</a:t>
            </a:r>
          </a:p>
        </p:txBody>
      </p:sp>
      <p:sp>
        <p:nvSpPr>
          <p:cNvPr id="65" name="Shape 3"/>
          <p:cNvSpPr/>
          <p:nvPr/>
        </p:nvSpPr>
        <p:spPr>
          <a:xfrm>
            <a:off x="548640" y="1874520"/>
            <a:ext cx="5372101" cy="1965961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EEC"/>
            </a:solidFill>
          </a:ln>
          <a:effectLst>
            <a:outerShdw sx="100000" sy="100000" kx="0" ky="0" algn="b" rotWithShape="0" blurRad="76200" dist="25400" dir="5400000">
              <a:srgbClr val="5C7A7C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" name="Shape 4"/>
          <p:cNvSpPr/>
          <p:nvPr/>
        </p:nvSpPr>
        <p:spPr>
          <a:xfrm>
            <a:off x="822960" y="2148839"/>
            <a:ext cx="658369" cy="658369"/>
          </a:xfrm>
          <a:prstGeom prst="ellipse">
            <a:avLst/>
          </a:prstGeom>
          <a:solidFill>
            <a:srgbClr val="014F5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9263" y="2295144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Text 5"/>
          <p:cNvSpPr txBox="1"/>
          <p:nvPr/>
        </p:nvSpPr>
        <p:spPr>
          <a:xfrm>
            <a:off x="1691640" y="2121661"/>
            <a:ext cx="39090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0B2B2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Speed &amp; Efficiency</a:t>
            </a:r>
          </a:p>
        </p:txBody>
      </p:sp>
      <p:sp>
        <p:nvSpPr>
          <p:cNvPr id="69" name="Text 6"/>
          <p:cNvSpPr txBox="1"/>
          <p:nvPr/>
        </p:nvSpPr>
        <p:spPr>
          <a:xfrm>
            <a:off x="1691639" y="2478023"/>
            <a:ext cx="4000502" cy="999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2000">
                <a:solidFill>
                  <a:srgbClr val="5C7A7C"/>
                </a:solidFill>
              </a:defRPr>
            </a:lvl1pPr>
          </a:lstStyle>
          <a:p>
            <a:pPr/>
            <a:r>
              <a:t>Vectorized operations process large datasets far faster than plain Python loops.</a:t>
            </a:r>
          </a:p>
        </p:txBody>
      </p:sp>
      <p:sp>
        <p:nvSpPr>
          <p:cNvPr id="70" name="Shape 7"/>
          <p:cNvSpPr/>
          <p:nvPr/>
        </p:nvSpPr>
        <p:spPr>
          <a:xfrm>
            <a:off x="6240779" y="1874520"/>
            <a:ext cx="5372101" cy="1965961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EEC"/>
            </a:solidFill>
          </a:ln>
          <a:effectLst>
            <a:outerShdw sx="100000" sy="100000" kx="0" ky="0" algn="b" rotWithShape="0" blurRad="76200" dist="25400" dir="5400000">
              <a:srgbClr val="5C7A7C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1" name="Shape 8"/>
          <p:cNvSpPr/>
          <p:nvPr/>
        </p:nvSpPr>
        <p:spPr>
          <a:xfrm>
            <a:off x="6515099" y="2148839"/>
            <a:ext cx="658370" cy="658369"/>
          </a:xfrm>
          <a:prstGeom prst="ellipse">
            <a:avLst/>
          </a:prstGeom>
          <a:solidFill>
            <a:srgbClr val="014F5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61404" y="2295144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 9"/>
          <p:cNvSpPr txBox="1"/>
          <p:nvPr/>
        </p:nvSpPr>
        <p:spPr>
          <a:xfrm>
            <a:off x="7383779" y="2121661"/>
            <a:ext cx="39090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0B2B2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Easy Data Cleaning</a:t>
            </a:r>
          </a:p>
        </p:txBody>
      </p:sp>
      <p:sp>
        <p:nvSpPr>
          <p:cNvPr id="74" name="Text 10"/>
          <p:cNvSpPr txBox="1"/>
          <p:nvPr/>
        </p:nvSpPr>
        <p:spPr>
          <a:xfrm>
            <a:off x="7383779" y="2478023"/>
            <a:ext cx="4000501" cy="999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2000">
                <a:solidFill>
                  <a:srgbClr val="5C7A7C"/>
                </a:solidFill>
              </a:defRPr>
            </a:lvl1pPr>
          </a:lstStyle>
          <a:p>
            <a:pPr/>
            <a:r>
              <a:t>Handle missing values, duplicates, and inconsistent formats in a few lines of code.</a:t>
            </a:r>
          </a:p>
        </p:txBody>
      </p:sp>
      <p:sp>
        <p:nvSpPr>
          <p:cNvPr id="75" name="Shape 11"/>
          <p:cNvSpPr/>
          <p:nvPr/>
        </p:nvSpPr>
        <p:spPr>
          <a:xfrm>
            <a:off x="548640" y="4160520"/>
            <a:ext cx="5372101" cy="1965961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EEC"/>
            </a:solidFill>
          </a:ln>
          <a:effectLst>
            <a:outerShdw sx="100000" sy="100000" kx="0" ky="0" algn="b" rotWithShape="0" blurRad="76200" dist="25400" dir="5400000">
              <a:srgbClr val="5C7A7C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6" name="Shape 12"/>
          <p:cNvSpPr/>
          <p:nvPr/>
        </p:nvSpPr>
        <p:spPr>
          <a:xfrm>
            <a:off x="822960" y="4434840"/>
            <a:ext cx="658369" cy="658369"/>
          </a:xfrm>
          <a:prstGeom prst="ellipse">
            <a:avLst/>
          </a:prstGeom>
          <a:solidFill>
            <a:srgbClr val="014F5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69263" y="4581144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Text 13"/>
          <p:cNvSpPr txBox="1"/>
          <p:nvPr/>
        </p:nvSpPr>
        <p:spPr>
          <a:xfrm>
            <a:off x="1691640" y="4407662"/>
            <a:ext cx="39090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0B2B2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Powerful Analysis</a:t>
            </a:r>
          </a:p>
        </p:txBody>
      </p:sp>
      <p:sp>
        <p:nvSpPr>
          <p:cNvPr id="79" name="Text 14"/>
          <p:cNvSpPr txBox="1"/>
          <p:nvPr/>
        </p:nvSpPr>
        <p:spPr>
          <a:xfrm>
            <a:off x="1691639" y="4764023"/>
            <a:ext cx="4000502" cy="999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2000">
                <a:solidFill>
                  <a:srgbClr val="5C7A7C"/>
                </a:solidFill>
              </a:defRPr>
            </a:lvl1pPr>
          </a:lstStyle>
          <a:p>
            <a:pPr/>
            <a:r>
              <a:t>Group, aggregate, pivot, and summarize data to uncover trends instantly.</a:t>
            </a:r>
          </a:p>
        </p:txBody>
      </p:sp>
      <p:sp>
        <p:nvSpPr>
          <p:cNvPr id="80" name="Shape 15"/>
          <p:cNvSpPr/>
          <p:nvPr/>
        </p:nvSpPr>
        <p:spPr>
          <a:xfrm>
            <a:off x="6240779" y="4160520"/>
            <a:ext cx="5372101" cy="1965961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EEC"/>
            </a:solidFill>
          </a:ln>
          <a:effectLst>
            <a:outerShdw sx="100000" sy="100000" kx="0" ky="0" algn="b" rotWithShape="0" blurRad="76200" dist="25400" dir="5400000">
              <a:srgbClr val="5C7A7C">
                <a:alpha val="1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1" name="Shape 16"/>
          <p:cNvSpPr/>
          <p:nvPr/>
        </p:nvSpPr>
        <p:spPr>
          <a:xfrm>
            <a:off x="6515099" y="4434840"/>
            <a:ext cx="658370" cy="658369"/>
          </a:xfrm>
          <a:prstGeom prst="ellipse">
            <a:avLst/>
          </a:prstGeom>
          <a:solidFill>
            <a:srgbClr val="014F5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661404" y="4581144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Text 17"/>
          <p:cNvSpPr txBox="1"/>
          <p:nvPr/>
        </p:nvSpPr>
        <p:spPr>
          <a:xfrm>
            <a:off x="7383779" y="4407662"/>
            <a:ext cx="39090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0B2B2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Simple, Readable Syntax</a:t>
            </a:r>
          </a:p>
        </p:txBody>
      </p:sp>
      <p:sp>
        <p:nvSpPr>
          <p:cNvPr id="84" name="Text 18"/>
          <p:cNvSpPr txBox="1"/>
          <p:nvPr/>
        </p:nvSpPr>
        <p:spPr>
          <a:xfrm>
            <a:off x="7383779" y="4764023"/>
            <a:ext cx="4000501" cy="999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2000">
                <a:solidFill>
                  <a:srgbClr val="5C7A7C"/>
                </a:solidFill>
              </a:defRPr>
            </a:lvl1pPr>
          </a:lstStyle>
          <a:p>
            <a:pPr/>
            <a:r>
              <a:t>Intuitive functions mean less code and faster learning for beginners and experts alike.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 txBox="1"/>
          <p:nvPr/>
        </p:nvSpPr>
        <p:spPr>
          <a:xfrm>
            <a:off x="594360" y="448309"/>
            <a:ext cx="12801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CFE3E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7" name="Text 1"/>
          <p:cNvSpPr txBox="1"/>
          <p:nvPr/>
        </p:nvSpPr>
        <p:spPr>
          <a:xfrm>
            <a:off x="594360" y="661670"/>
            <a:ext cx="8138161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4000">
                <a:solidFill>
                  <a:srgbClr val="0B2B2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Common Pandas Functions</a:t>
            </a:r>
          </a:p>
        </p:txBody>
      </p:sp>
      <p:sp>
        <p:nvSpPr>
          <p:cNvPr id="88" name="Text 2"/>
          <p:cNvSpPr txBox="1"/>
          <p:nvPr/>
        </p:nvSpPr>
        <p:spPr>
          <a:xfrm>
            <a:off x="594360" y="1298029"/>
            <a:ext cx="90525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2000">
                <a:solidFill>
                  <a:srgbClr val="5C7A7C"/>
                </a:solidFill>
              </a:defRPr>
            </a:lvl1pPr>
          </a:lstStyle>
          <a:p>
            <a:pPr/>
            <a:r>
              <a:t>The five workhorse functions you’ll use in almost every project</a:t>
            </a:r>
          </a:p>
        </p:txBody>
      </p:sp>
      <p:sp>
        <p:nvSpPr>
          <p:cNvPr id="89" name="Shape 3"/>
          <p:cNvSpPr/>
          <p:nvPr/>
        </p:nvSpPr>
        <p:spPr>
          <a:xfrm>
            <a:off x="548640" y="1874520"/>
            <a:ext cx="11064241" cy="548641"/>
          </a:xfrm>
          <a:prstGeom prst="roundRect">
            <a:avLst>
              <a:gd name="adj" fmla="val 10000"/>
            </a:avLst>
          </a:prstGeom>
          <a:solidFill>
            <a:srgbClr val="014F53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90" name="Text 4"/>
          <p:cNvSpPr txBox="1"/>
          <p:nvPr/>
        </p:nvSpPr>
        <p:spPr>
          <a:xfrm>
            <a:off x="822960" y="1978749"/>
            <a:ext cx="228600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25" sz="2000">
                <a:solidFill>
                  <a:srgbClr val="FFFFFF"/>
                </a:solidFill>
              </a:defRPr>
            </a:lvl1pPr>
          </a:lstStyle>
          <a:p>
            <a:pPr/>
            <a:r>
              <a:t>FUNCTION</a:t>
            </a:r>
          </a:p>
        </p:txBody>
      </p:sp>
      <p:sp>
        <p:nvSpPr>
          <p:cNvPr id="91" name="Text 5"/>
          <p:cNvSpPr txBox="1"/>
          <p:nvPr/>
        </p:nvSpPr>
        <p:spPr>
          <a:xfrm>
            <a:off x="3337560" y="1978749"/>
            <a:ext cx="658368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25" sz="2000">
                <a:solidFill>
                  <a:srgbClr val="FFFFFF"/>
                </a:solidFill>
              </a:defRPr>
            </a:lvl1pPr>
          </a:lstStyle>
          <a:p>
            <a:pPr/>
            <a:r>
              <a:t>WHAT IT DOES</a:t>
            </a:r>
          </a:p>
        </p:txBody>
      </p:sp>
      <p:sp>
        <p:nvSpPr>
          <p:cNvPr id="92" name="Text 6"/>
          <p:cNvSpPr txBox="1"/>
          <p:nvPr/>
        </p:nvSpPr>
        <p:spPr>
          <a:xfrm>
            <a:off x="10104119" y="1978749"/>
            <a:ext cx="146304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25" sz="2000">
                <a:solidFill>
                  <a:srgbClr val="FFFFFF"/>
                </a:solidFill>
              </a:defRPr>
            </a:lvl1pPr>
          </a:lstStyle>
          <a:p>
            <a:pPr/>
            <a:r>
              <a:t>CATEGORY</a:t>
            </a:r>
          </a:p>
        </p:txBody>
      </p:sp>
      <p:sp>
        <p:nvSpPr>
          <p:cNvPr id="93" name="Shape 7"/>
          <p:cNvSpPr/>
          <p:nvPr/>
        </p:nvSpPr>
        <p:spPr>
          <a:xfrm>
            <a:off x="548639" y="2423160"/>
            <a:ext cx="11064242" cy="841249"/>
          </a:xfrm>
          <a:prstGeom prst="rect">
            <a:avLst/>
          </a:prstGeom>
          <a:solidFill>
            <a:srgbClr val="FFFFFF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94" name="Text 8"/>
          <p:cNvSpPr txBox="1"/>
          <p:nvPr/>
        </p:nvSpPr>
        <p:spPr>
          <a:xfrm>
            <a:off x="822960" y="2652014"/>
            <a:ext cx="228600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014F5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read_csv()</a:t>
            </a:r>
          </a:p>
        </p:txBody>
      </p:sp>
      <p:sp>
        <p:nvSpPr>
          <p:cNvPr id="95" name="Text 9"/>
          <p:cNvSpPr txBox="1"/>
          <p:nvPr/>
        </p:nvSpPr>
        <p:spPr>
          <a:xfrm>
            <a:off x="3337559" y="2673693"/>
            <a:ext cx="649224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Loads data from a CSV file into a DataFrame</a:t>
            </a:r>
          </a:p>
        </p:txBody>
      </p:sp>
      <p:sp>
        <p:nvSpPr>
          <p:cNvPr id="96" name="Shape 10"/>
          <p:cNvSpPr/>
          <p:nvPr/>
        </p:nvSpPr>
        <p:spPr>
          <a:xfrm>
            <a:off x="10012680" y="2642616"/>
            <a:ext cx="1508761" cy="402337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97" name="Text 11"/>
          <p:cNvSpPr txBox="1"/>
          <p:nvPr/>
        </p:nvSpPr>
        <p:spPr>
          <a:xfrm>
            <a:off x="10012680" y="2696816"/>
            <a:ext cx="150876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Import</a:t>
            </a:r>
          </a:p>
        </p:txBody>
      </p:sp>
      <p:sp>
        <p:nvSpPr>
          <p:cNvPr id="98" name="Shape 12"/>
          <p:cNvSpPr/>
          <p:nvPr/>
        </p:nvSpPr>
        <p:spPr>
          <a:xfrm>
            <a:off x="548639" y="3264408"/>
            <a:ext cx="11064242" cy="841249"/>
          </a:xfrm>
          <a:prstGeom prst="rect">
            <a:avLst/>
          </a:prstGeom>
          <a:solidFill>
            <a:srgbClr val="EEF6F5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99" name="Text 13"/>
          <p:cNvSpPr txBox="1"/>
          <p:nvPr/>
        </p:nvSpPr>
        <p:spPr>
          <a:xfrm>
            <a:off x="822960" y="3493262"/>
            <a:ext cx="228600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014F5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head()</a:t>
            </a:r>
          </a:p>
        </p:txBody>
      </p:sp>
      <p:sp>
        <p:nvSpPr>
          <p:cNvPr id="100" name="Text 14"/>
          <p:cNvSpPr txBox="1"/>
          <p:nvPr/>
        </p:nvSpPr>
        <p:spPr>
          <a:xfrm>
            <a:off x="3337559" y="3514941"/>
            <a:ext cx="649224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Previews the first N rows of the dataset</a:t>
            </a:r>
          </a:p>
        </p:txBody>
      </p:sp>
      <p:sp>
        <p:nvSpPr>
          <p:cNvPr id="101" name="Shape 15"/>
          <p:cNvSpPr/>
          <p:nvPr/>
        </p:nvSpPr>
        <p:spPr>
          <a:xfrm>
            <a:off x="10012680" y="3483864"/>
            <a:ext cx="1508761" cy="402337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02" name="Text 16"/>
          <p:cNvSpPr txBox="1"/>
          <p:nvPr/>
        </p:nvSpPr>
        <p:spPr>
          <a:xfrm>
            <a:off x="10012680" y="3538064"/>
            <a:ext cx="150876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Inspect</a:t>
            </a:r>
          </a:p>
        </p:txBody>
      </p:sp>
      <p:sp>
        <p:nvSpPr>
          <p:cNvPr id="103" name="Shape 17"/>
          <p:cNvSpPr/>
          <p:nvPr/>
        </p:nvSpPr>
        <p:spPr>
          <a:xfrm>
            <a:off x="548639" y="4105655"/>
            <a:ext cx="11064242" cy="841249"/>
          </a:xfrm>
          <a:prstGeom prst="rect">
            <a:avLst/>
          </a:prstGeom>
          <a:solidFill>
            <a:srgbClr val="FFFFFF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04" name="Text 18"/>
          <p:cNvSpPr txBox="1"/>
          <p:nvPr/>
        </p:nvSpPr>
        <p:spPr>
          <a:xfrm>
            <a:off x="822960" y="4334509"/>
            <a:ext cx="228600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014F5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info()</a:t>
            </a:r>
          </a:p>
        </p:txBody>
      </p:sp>
      <p:sp>
        <p:nvSpPr>
          <p:cNvPr id="105" name="Text 19"/>
          <p:cNvSpPr txBox="1"/>
          <p:nvPr/>
        </p:nvSpPr>
        <p:spPr>
          <a:xfrm>
            <a:off x="3337559" y="4356189"/>
            <a:ext cx="649224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Summarizes columns, data types, and null counts</a:t>
            </a:r>
          </a:p>
        </p:txBody>
      </p:sp>
      <p:sp>
        <p:nvSpPr>
          <p:cNvPr id="106" name="Shape 20"/>
          <p:cNvSpPr/>
          <p:nvPr/>
        </p:nvSpPr>
        <p:spPr>
          <a:xfrm>
            <a:off x="10012680" y="4325111"/>
            <a:ext cx="1508761" cy="402337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07" name="Text 21"/>
          <p:cNvSpPr txBox="1"/>
          <p:nvPr/>
        </p:nvSpPr>
        <p:spPr>
          <a:xfrm>
            <a:off x="10012680" y="4379312"/>
            <a:ext cx="150876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Inspect</a:t>
            </a:r>
          </a:p>
        </p:txBody>
      </p:sp>
      <p:sp>
        <p:nvSpPr>
          <p:cNvPr id="108" name="Shape 22"/>
          <p:cNvSpPr/>
          <p:nvPr/>
        </p:nvSpPr>
        <p:spPr>
          <a:xfrm>
            <a:off x="548639" y="4946903"/>
            <a:ext cx="11064242" cy="841249"/>
          </a:xfrm>
          <a:prstGeom prst="rect">
            <a:avLst/>
          </a:prstGeom>
          <a:solidFill>
            <a:srgbClr val="EEF6F5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09" name="Text 23"/>
          <p:cNvSpPr txBox="1"/>
          <p:nvPr/>
        </p:nvSpPr>
        <p:spPr>
          <a:xfrm>
            <a:off x="822960" y="5175757"/>
            <a:ext cx="228600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014F5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dropna()</a:t>
            </a:r>
          </a:p>
        </p:txBody>
      </p:sp>
      <p:sp>
        <p:nvSpPr>
          <p:cNvPr id="110" name="Text 24"/>
          <p:cNvSpPr txBox="1"/>
          <p:nvPr/>
        </p:nvSpPr>
        <p:spPr>
          <a:xfrm>
            <a:off x="3337559" y="5197437"/>
            <a:ext cx="649224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Removes rows or columns with missing values</a:t>
            </a:r>
          </a:p>
        </p:txBody>
      </p:sp>
      <p:sp>
        <p:nvSpPr>
          <p:cNvPr id="111" name="Shape 25"/>
          <p:cNvSpPr/>
          <p:nvPr/>
        </p:nvSpPr>
        <p:spPr>
          <a:xfrm>
            <a:off x="10012680" y="5166359"/>
            <a:ext cx="1508761" cy="402337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12" name="Text 26"/>
          <p:cNvSpPr txBox="1"/>
          <p:nvPr/>
        </p:nvSpPr>
        <p:spPr>
          <a:xfrm>
            <a:off x="10012680" y="5220560"/>
            <a:ext cx="150876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Clean</a:t>
            </a:r>
          </a:p>
        </p:txBody>
      </p:sp>
      <p:sp>
        <p:nvSpPr>
          <p:cNvPr id="113" name="Shape 27"/>
          <p:cNvSpPr/>
          <p:nvPr/>
        </p:nvSpPr>
        <p:spPr>
          <a:xfrm>
            <a:off x="548639" y="5788152"/>
            <a:ext cx="11064242" cy="841249"/>
          </a:xfrm>
          <a:prstGeom prst="rect">
            <a:avLst/>
          </a:prstGeom>
          <a:solidFill>
            <a:srgbClr val="FFFFFF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14" name="Text 28"/>
          <p:cNvSpPr txBox="1"/>
          <p:nvPr/>
        </p:nvSpPr>
        <p:spPr>
          <a:xfrm>
            <a:off x="822960" y="6017006"/>
            <a:ext cx="2286000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014F5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sort_values()</a:t>
            </a:r>
          </a:p>
        </p:txBody>
      </p:sp>
      <p:sp>
        <p:nvSpPr>
          <p:cNvPr id="115" name="Text 29"/>
          <p:cNvSpPr txBox="1"/>
          <p:nvPr/>
        </p:nvSpPr>
        <p:spPr>
          <a:xfrm>
            <a:off x="3337559" y="6038685"/>
            <a:ext cx="649224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Sorts the DataFrame by one or more columns</a:t>
            </a:r>
          </a:p>
        </p:txBody>
      </p:sp>
      <p:sp>
        <p:nvSpPr>
          <p:cNvPr id="116" name="Shape 30"/>
          <p:cNvSpPr/>
          <p:nvPr/>
        </p:nvSpPr>
        <p:spPr>
          <a:xfrm>
            <a:off x="10012680" y="6007608"/>
            <a:ext cx="1508761" cy="402337"/>
          </a:xfrm>
          <a:prstGeom prst="roundRect">
            <a:avLst>
              <a:gd name="adj" fmla="val 50000"/>
            </a:avLst>
          </a:prstGeom>
          <a:solidFill>
            <a:srgbClr val="014F53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17" name="Text 31"/>
          <p:cNvSpPr txBox="1"/>
          <p:nvPr/>
        </p:nvSpPr>
        <p:spPr>
          <a:xfrm>
            <a:off x="10012680" y="6061808"/>
            <a:ext cx="150876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Organize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 txBox="1"/>
          <p:nvPr/>
        </p:nvSpPr>
        <p:spPr>
          <a:xfrm>
            <a:off x="594360" y="448309"/>
            <a:ext cx="12801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CFE3E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0" name="Text 1"/>
          <p:cNvSpPr txBox="1"/>
          <p:nvPr/>
        </p:nvSpPr>
        <p:spPr>
          <a:xfrm>
            <a:off x="594360" y="661670"/>
            <a:ext cx="8138161" cy="688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4000">
                <a:solidFill>
                  <a:srgbClr val="0B2B2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Example: Dataset &amp; Output</a:t>
            </a:r>
          </a:p>
        </p:txBody>
      </p:sp>
      <p:sp>
        <p:nvSpPr>
          <p:cNvPr id="121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0B2B2D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22" name="Shape 3"/>
          <p:cNvSpPr/>
          <p:nvPr/>
        </p:nvSpPr>
        <p:spPr>
          <a:xfrm>
            <a:off x="822960" y="1783079"/>
            <a:ext cx="146305" cy="146305"/>
          </a:xfrm>
          <a:prstGeom prst="ellipse">
            <a:avLst/>
          </a:prstGeom>
          <a:solidFill>
            <a:srgbClr val="FF5F5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Shape 4"/>
          <p:cNvSpPr/>
          <p:nvPr/>
        </p:nvSpPr>
        <p:spPr>
          <a:xfrm>
            <a:off x="1051560" y="1783079"/>
            <a:ext cx="146305" cy="146305"/>
          </a:xfrm>
          <a:prstGeom prst="ellipse">
            <a:avLst/>
          </a:prstGeom>
          <a:solidFill>
            <a:srgbClr val="FFBD2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Shape 5"/>
          <p:cNvSpPr/>
          <p:nvPr/>
        </p:nvSpPr>
        <p:spPr>
          <a:xfrm>
            <a:off x="1280160" y="1783079"/>
            <a:ext cx="146305" cy="146305"/>
          </a:xfrm>
          <a:prstGeom prst="ellipse">
            <a:avLst/>
          </a:prstGeom>
          <a:solidFill>
            <a:srgbClr val="27C93F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25" name="Text 6"/>
          <p:cNvSpPr txBox="1"/>
          <p:nvPr/>
        </p:nvSpPr>
        <p:spPr>
          <a:xfrm>
            <a:off x="594359" y="1682750"/>
            <a:ext cx="530352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000">
                <a:solidFill>
                  <a:srgbClr val="9FC7C5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sales_demo.py</a:t>
            </a:r>
          </a:p>
        </p:txBody>
      </p:sp>
      <p:sp>
        <p:nvSpPr>
          <p:cNvPr id="126" name="Text 7"/>
          <p:cNvSpPr txBox="1"/>
          <p:nvPr/>
        </p:nvSpPr>
        <p:spPr>
          <a:xfrm>
            <a:off x="914399" y="2148839"/>
            <a:ext cx="4800602" cy="3419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15000"/>
              </a:lnSpc>
              <a:defRPr sz="2000">
                <a:solidFill>
                  <a:srgbClr val="8CF5D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import pandas as pd</a:t>
            </a:r>
          </a:p>
          <a:p>
            <a:pPr>
              <a:lnSpc>
                <a:spcPct val="115000"/>
              </a:lnSpc>
              <a:defRPr sz="2000"/>
            </a:pPr>
          </a:p>
          <a:p>
            <a:pPr>
              <a:lnSpc>
                <a:spcPct val="115000"/>
              </a:lnSpc>
              <a:defRPr sz="2000">
                <a:solidFill>
                  <a:srgbClr val="8CF5D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df = pd.read_csv('sales.csv')</a:t>
            </a:r>
          </a:p>
          <a:p>
            <a:pPr>
              <a:lnSpc>
                <a:spcPct val="115000"/>
              </a:lnSpc>
              <a:defRPr sz="2000"/>
            </a:pPr>
          </a:p>
          <a:p>
            <a:pPr>
              <a:lnSpc>
                <a:spcPct val="115000"/>
              </a:lnSpc>
              <a:defRPr sz="2000">
                <a:solidFill>
                  <a:srgbClr val="8CF5D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df.head()</a:t>
            </a:r>
          </a:p>
          <a:p>
            <a:pPr>
              <a:lnSpc>
                <a:spcPct val="115000"/>
              </a:lnSpc>
              <a:defRPr sz="2000">
                <a:solidFill>
                  <a:srgbClr val="8CF5D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df.info()</a:t>
            </a:r>
          </a:p>
          <a:p>
            <a:pPr>
              <a:lnSpc>
                <a:spcPct val="115000"/>
              </a:lnSpc>
              <a:defRPr sz="2000">
                <a:solidFill>
                  <a:srgbClr val="8CF5D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df = df.dropna()</a:t>
            </a:r>
          </a:p>
          <a:p>
            <a:pPr>
              <a:lnSpc>
                <a:spcPct val="115000"/>
              </a:lnSpc>
              <a:defRPr sz="2000">
                <a:solidFill>
                  <a:srgbClr val="8CF5D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df = df.sort_values('Revenue',</a:t>
            </a:r>
          </a:p>
          <a:p>
            <a:pPr>
              <a:lnSpc>
                <a:spcPct val="115000"/>
              </a:lnSpc>
              <a:defRPr sz="2000">
                <a:solidFill>
                  <a:srgbClr val="8CF5D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     ascending=False)</a:t>
            </a:r>
          </a:p>
        </p:txBody>
      </p:sp>
      <p:sp>
        <p:nvSpPr>
          <p:cNvPr id="127" name="Shape 8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EEC"/>
            </a:solidFill>
          </a:ln>
          <a:effectLst>
            <a:outerShdw sx="100000" sy="100000" kx="0" ky="0" algn="b" rotWithShape="0" blurRad="76200" dist="25400" dir="5400000">
              <a:srgbClr val="5C7A7C">
                <a:alpha val="15000"/>
              </a:srgbClr>
            </a:outerShdw>
          </a:effectLst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28" name="Text 9"/>
          <p:cNvSpPr txBox="1"/>
          <p:nvPr/>
        </p:nvSpPr>
        <p:spPr>
          <a:xfrm>
            <a:off x="6583679" y="1795869"/>
            <a:ext cx="466344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i="1" sz="2000">
                <a:solidFill>
                  <a:srgbClr val="5C7A7C"/>
                </a:solidFill>
              </a:defRPr>
            </a:lvl1pPr>
          </a:lstStyle>
          <a:p>
            <a:pPr/>
            <a:r>
              <a:t>Output — sorted by Revenue</a:t>
            </a:r>
          </a:p>
        </p:txBody>
      </p:sp>
      <p:sp>
        <p:nvSpPr>
          <p:cNvPr id="129" name="Shape 10"/>
          <p:cNvSpPr/>
          <p:nvPr/>
        </p:nvSpPr>
        <p:spPr>
          <a:xfrm>
            <a:off x="6537959" y="2285999"/>
            <a:ext cx="1554481" cy="502921"/>
          </a:xfrm>
          <a:prstGeom prst="rect">
            <a:avLst/>
          </a:prstGeom>
          <a:solidFill>
            <a:srgbClr val="014F53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30" name="Text 11"/>
          <p:cNvSpPr txBox="1"/>
          <p:nvPr/>
        </p:nvSpPr>
        <p:spPr>
          <a:xfrm>
            <a:off x="6537959" y="2413088"/>
            <a:ext cx="155448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Region</a:t>
            </a:r>
          </a:p>
        </p:txBody>
      </p:sp>
      <p:sp>
        <p:nvSpPr>
          <p:cNvPr id="131" name="Shape 12"/>
          <p:cNvSpPr/>
          <p:nvPr/>
        </p:nvSpPr>
        <p:spPr>
          <a:xfrm>
            <a:off x="8092440" y="2285999"/>
            <a:ext cx="1554481" cy="502921"/>
          </a:xfrm>
          <a:prstGeom prst="rect">
            <a:avLst/>
          </a:prstGeom>
          <a:solidFill>
            <a:srgbClr val="014F53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32" name="Text 13"/>
          <p:cNvSpPr txBox="1"/>
          <p:nvPr/>
        </p:nvSpPr>
        <p:spPr>
          <a:xfrm>
            <a:off x="8092440" y="2413088"/>
            <a:ext cx="155448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Product</a:t>
            </a:r>
          </a:p>
        </p:txBody>
      </p:sp>
      <p:sp>
        <p:nvSpPr>
          <p:cNvPr id="133" name="Shape 14"/>
          <p:cNvSpPr/>
          <p:nvPr/>
        </p:nvSpPr>
        <p:spPr>
          <a:xfrm>
            <a:off x="9646919" y="2285999"/>
            <a:ext cx="1371601" cy="502921"/>
          </a:xfrm>
          <a:prstGeom prst="rect">
            <a:avLst/>
          </a:prstGeom>
          <a:solidFill>
            <a:srgbClr val="014F53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34" name="Text 15"/>
          <p:cNvSpPr txBox="1"/>
          <p:nvPr/>
        </p:nvSpPr>
        <p:spPr>
          <a:xfrm>
            <a:off x="9646919" y="2413088"/>
            <a:ext cx="137160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Revenue</a:t>
            </a:r>
          </a:p>
        </p:txBody>
      </p:sp>
      <p:sp>
        <p:nvSpPr>
          <p:cNvPr id="135" name="Shape 16"/>
          <p:cNvSpPr/>
          <p:nvPr/>
        </p:nvSpPr>
        <p:spPr>
          <a:xfrm>
            <a:off x="6537959" y="2788920"/>
            <a:ext cx="1554481" cy="502920"/>
          </a:xfrm>
          <a:prstGeom prst="rect">
            <a:avLst/>
          </a:prstGeom>
          <a:solidFill>
            <a:srgbClr val="FFFFFF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36" name="Text 17"/>
          <p:cNvSpPr txBox="1"/>
          <p:nvPr/>
        </p:nvSpPr>
        <p:spPr>
          <a:xfrm>
            <a:off x="6537959" y="2916008"/>
            <a:ext cx="155448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South</a:t>
            </a:r>
          </a:p>
        </p:txBody>
      </p:sp>
      <p:sp>
        <p:nvSpPr>
          <p:cNvPr id="137" name="Shape 18"/>
          <p:cNvSpPr/>
          <p:nvPr/>
        </p:nvSpPr>
        <p:spPr>
          <a:xfrm>
            <a:off x="8092440" y="2788920"/>
            <a:ext cx="1554481" cy="502920"/>
          </a:xfrm>
          <a:prstGeom prst="rect">
            <a:avLst/>
          </a:prstGeom>
          <a:solidFill>
            <a:srgbClr val="FFFFFF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38" name="Text 19"/>
          <p:cNvSpPr txBox="1"/>
          <p:nvPr/>
        </p:nvSpPr>
        <p:spPr>
          <a:xfrm>
            <a:off x="8092440" y="2916008"/>
            <a:ext cx="155448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Laptop</a:t>
            </a:r>
          </a:p>
        </p:txBody>
      </p:sp>
      <p:sp>
        <p:nvSpPr>
          <p:cNvPr id="139" name="Shape 20"/>
          <p:cNvSpPr/>
          <p:nvPr/>
        </p:nvSpPr>
        <p:spPr>
          <a:xfrm>
            <a:off x="9646919" y="2788920"/>
            <a:ext cx="1371601" cy="502920"/>
          </a:xfrm>
          <a:prstGeom prst="rect">
            <a:avLst/>
          </a:prstGeom>
          <a:solidFill>
            <a:srgbClr val="FFFFFF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40" name="Text 21"/>
          <p:cNvSpPr txBox="1"/>
          <p:nvPr/>
        </p:nvSpPr>
        <p:spPr>
          <a:xfrm>
            <a:off x="9646919" y="2916008"/>
            <a:ext cx="137160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82,400</a:t>
            </a:r>
          </a:p>
        </p:txBody>
      </p:sp>
      <p:sp>
        <p:nvSpPr>
          <p:cNvPr id="141" name="Shape 22"/>
          <p:cNvSpPr/>
          <p:nvPr/>
        </p:nvSpPr>
        <p:spPr>
          <a:xfrm>
            <a:off x="6537959" y="3291840"/>
            <a:ext cx="1554481" cy="502920"/>
          </a:xfrm>
          <a:prstGeom prst="rect">
            <a:avLst/>
          </a:prstGeom>
          <a:solidFill>
            <a:srgbClr val="EEF6F5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42" name="Text 23"/>
          <p:cNvSpPr txBox="1"/>
          <p:nvPr/>
        </p:nvSpPr>
        <p:spPr>
          <a:xfrm>
            <a:off x="6537959" y="3418928"/>
            <a:ext cx="155448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North</a:t>
            </a:r>
          </a:p>
        </p:txBody>
      </p:sp>
      <p:sp>
        <p:nvSpPr>
          <p:cNvPr id="143" name="Shape 24"/>
          <p:cNvSpPr/>
          <p:nvPr/>
        </p:nvSpPr>
        <p:spPr>
          <a:xfrm>
            <a:off x="8092440" y="3291840"/>
            <a:ext cx="1554481" cy="502920"/>
          </a:xfrm>
          <a:prstGeom prst="rect">
            <a:avLst/>
          </a:prstGeom>
          <a:solidFill>
            <a:srgbClr val="EEF6F5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44" name="Text 25"/>
          <p:cNvSpPr txBox="1"/>
          <p:nvPr/>
        </p:nvSpPr>
        <p:spPr>
          <a:xfrm>
            <a:off x="8092440" y="3418928"/>
            <a:ext cx="155448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Tablet</a:t>
            </a:r>
          </a:p>
        </p:txBody>
      </p:sp>
      <p:sp>
        <p:nvSpPr>
          <p:cNvPr id="145" name="Shape 26"/>
          <p:cNvSpPr/>
          <p:nvPr/>
        </p:nvSpPr>
        <p:spPr>
          <a:xfrm>
            <a:off x="9646919" y="3291840"/>
            <a:ext cx="1371601" cy="502920"/>
          </a:xfrm>
          <a:prstGeom prst="rect">
            <a:avLst/>
          </a:prstGeom>
          <a:solidFill>
            <a:srgbClr val="EEF6F5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46" name="Text 27"/>
          <p:cNvSpPr txBox="1"/>
          <p:nvPr/>
        </p:nvSpPr>
        <p:spPr>
          <a:xfrm>
            <a:off x="9646919" y="3418928"/>
            <a:ext cx="137160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65,100</a:t>
            </a:r>
          </a:p>
        </p:txBody>
      </p:sp>
      <p:sp>
        <p:nvSpPr>
          <p:cNvPr id="147" name="Shape 28"/>
          <p:cNvSpPr/>
          <p:nvPr/>
        </p:nvSpPr>
        <p:spPr>
          <a:xfrm>
            <a:off x="6537959" y="3794759"/>
            <a:ext cx="1554481" cy="502920"/>
          </a:xfrm>
          <a:prstGeom prst="rect">
            <a:avLst/>
          </a:prstGeom>
          <a:solidFill>
            <a:srgbClr val="FFFFFF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48" name="Text 29"/>
          <p:cNvSpPr txBox="1"/>
          <p:nvPr/>
        </p:nvSpPr>
        <p:spPr>
          <a:xfrm>
            <a:off x="6537959" y="3921848"/>
            <a:ext cx="155448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West</a:t>
            </a:r>
          </a:p>
        </p:txBody>
      </p:sp>
      <p:sp>
        <p:nvSpPr>
          <p:cNvPr id="149" name="Shape 30"/>
          <p:cNvSpPr/>
          <p:nvPr/>
        </p:nvSpPr>
        <p:spPr>
          <a:xfrm>
            <a:off x="8092440" y="3794759"/>
            <a:ext cx="1554481" cy="502920"/>
          </a:xfrm>
          <a:prstGeom prst="rect">
            <a:avLst/>
          </a:prstGeom>
          <a:solidFill>
            <a:srgbClr val="FFFFFF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50" name="Text 31"/>
          <p:cNvSpPr txBox="1"/>
          <p:nvPr/>
        </p:nvSpPr>
        <p:spPr>
          <a:xfrm>
            <a:off x="8092440" y="3921848"/>
            <a:ext cx="155448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Laptop</a:t>
            </a:r>
          </a:p>
        </p:txBody>
      </p:sp>
      <p:sp>
        <p:nvSpPr>
          <p:cNvPr id="151" name="Shape 32"/>
          <p:cNvSpPr/>
          <p:nvPr/>
        </p:nvSpPr>
        <p:spPr>
          <a:xfrm>
            <a:off x="9646919" y="3794759"/>
            <a:ext cx="1371601" cy="502920"/>
          </a:xfrm>
          <a:prstGeom prst="rect">
            <a:avLst/>
          </a:prstGeom>
          <a:solidFill>
            <a:srgbClr val="FFFFFF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52" name="Text 33"/>
          <p:cNvSpPr txBox="1"/>
          <p:nvPr/>
        </p:nvSpPr>
        <p:spPr>
          <a:xfrm>
            <a:off x="9646919" y="3921848"/>
            <a:ext cx="137160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58,750</a:t>
            </a:r>
          </a:p>
        </p:txBody>
      </p:sp>
      <p:sp>
        <p:nvSpPr>
          <p:cNvPr id="153" name="Shape 34"/>
          <p:cNvSpPr/>
          <p:nvPr/>
        </p:nvSpPr>
        <p:spPr>
          <a:xfrm>
            <a:off x="6537959" y="4297679"/>
            <a:ext cx="1554481" cy="502920"/>
          </a:xfrm>
          <a:prstGeom prst="rect">
            <a:avLst/>
          </a:prstGeom>
          <a:solidFill>
            <a:srgbClr val="EEF6F5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54" name="Text 35"/>
          <p:cNvSpPr txBox="1"/>
          <p:nvPr/>
        </p:nvSpPr>
        <p:spPr>
          <a:xfrm>
            <a:off x="6537959" y="4424768"/>
            <a:ext cx="155448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East</a:t>
            </a:r>
          </a:p>
        </p:txBody>
      </p:sp>
      <p:sp>
        <p:nvSpPr>
          <p:cNvPr id="155" name="Shape 36"/>
          <p:cNvSpPr/>
          <p:nvPr/>
        </p:nvSpPr>
        <p:spPr>
          <a:xfrm>
            <a:off x="8092440" y="4297679"/>
            <a:ext cx="1554481" cy="502920"/>
          </a:xfrm>
          <a:prstGeom prst="rect">
            <a:avLst/>
          </a:prstGeom>
          <a:solidFill>
            <a:srgbClr val="EEF6F5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56" name="Text 37"/>
          <p:cNvSpPr txBox="1"/>
          <p:nvPr/>
        </p:nvSpPr>
        <p:spPr>
          <a:xfrm>
            <a:off x="8092440" y="4424768"/>
            <a:ext cx="155448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Phone</a:t>
            </a:r>
          </a:p>
        </p:txBody>
      </p:sp>
      <p:sp>
        <p:nvSpPr>
          <p:cNvPr id="157" name="Shape 38"/>
          <p:cNvSpPr/>
          <p:nvPr/>
        </p:nvSpPr>
        <p:spPr>
          <a:xfrm>
            <a:off x="9646919" y="4297679"/>
            <a:ext cx="1371601" cy="502920"/>
          </a:xfrm>
          <a:prstGeom prst="rect">
            <a:avLst/>
          </a:prstGeom>
          <a:solidFill>
            <a:srgbClr val="EEF6F5"/>
          </a:solidFill>
          <a:ln>
            <a:solidFill>
              <a:srgbClr val="E3EEEC"/>
            </a:solidFill>
          </a:ln>
        </p:spPr>
        <p:txBody>
          <a:bodyPr lIns="45719" rIns="45719"/>
          <a:lstStyle/>
          <a:p>
            <a:pPr>
              <a:defRPr sz="2000"/>
            </a:pPr>
          </a:p>
        </p:txBody>
      </p:sp>
      <p:sp>
        <p:nvSpPr>
          <p:cNvPr id="158" name="Text 39"/>
          <p:cNvSpPr txBox="1"/>
          <p:nvPr/>
        </p:nvSpPr>
        <p:spPr>
          <a:xfrm>
            <a:off x="9646919" y="4424768"/>
            <a:ext cx="1371601" cy="248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B2B2D"/>
                </a:solidFill>
              </a:defRPr>
            </a:lvl1pPr>
          </a:lstStyle>
          <a:p>
            <a:pPr/>
            <a:r>
              <a:t>47,300</a:t>
            </a:r>
          </a:p>
        </p:txBody>
      </p:sp>
      <p:sp>
        <p:nvSpPr>
          <p:cNvPr id="159" name="Text 40"/>
          <p:cNvSpPr txBox="1"/>
          <p:nvPr/>
        </p:nvSpPr>
        <p:spPr>
          <a:xfrm>
            <a:off x="6583679" y="5074920"/>
            <a:ext cx="4663441" cy="6574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defRPr i="1" sz="2000">
                <a:solidFill>
                  <a:srgbClr val="5C7A7C"/>
                </a:solidFill>
              </a:defRPr>
            </a:lvl1pPr>
          </a:lstStyle>
          <a:p>
            <a:pPr/>
            <a:r>
              <a:t>Highest-revenue rows now appear at the top — ready for reporting or visualization.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14F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0"/>
          <p:cNvSpPr/>
          <p:nvPr/>
        </p:nvSpPr>
        <p:spPr>
          <a:xfrm>
            <a:off x="-1371600" y="-1371601"/>
            <a:ext cx="3657600" cy="3657601"/>
          </a:xfrm>
          <a:prstGeom prst="ellipse">
            <a:avLst/>
          </a:prstGeom>
          <a:solidFill>
            <a:srgbClr val="028090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Shape 1"/>
          <p:cNvSpPr/>
          <p:nvPr/>
        </p:nvSpPr>
        <p:spPr>
          <a:xfrm>
            <a:off x="10058399" y="4754879"/>
            <a:ext cx="3291842" cy="3291841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2"/>
          <p:cNvSpPr txBox="1"/>
          <p:nvPr/>
        </p:nvSpPr>
        <p:spPr>
          <a:xfrm>
            <a:off x="594360" y="539750"/>
            <a:ext cx="128016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2E7A78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64" name="Text 3"/>
          <p:cNvSpPr txBox="1"/>
          <p:nvPr/>
        </p:nvSpPr>
        <p:spPr>
          <a:xfrm>
            <a:off x="594360" y="816610"/>
            <a:ext cx="7223761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65" name="Shape 4"/>
          <p:cNvSpPr/>
          <p:nvPr/>
        </p:nvSpPr>
        <p:spPr>
          <a:xfrm>
            <a:off x="640080" y="1828799"/>
            <a:ext cx="502921" cy="502922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5"/>
          <p:cNvSpPr txBox="1"/>
          <p:nvPr/>
        </p:nvSpPr>
        <p:spPr>
          <a:xfrm>
            <a:off x="640080" y="1946909"/>
            <a:ext cx="50292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014F5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7" name="Text 6"/>
          <p:cNvSpPr txBox="1"/>
          <p:nvPr/>
        </p:nvSpPr>
        <p:spPr>
          <a:xfrm>
            <a:off x="1463039" y="1755648"/>
            <a:ext cx="978408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1600">
                <a:solidFill>
                  <a:srgbClr val="E9F7F5"/>
                </a:solidFill>
              </a:defRPr>
            </a:lvl1pPr>
          </a:lstStyle>
          <a:p>
            <a:pPr/>
            <a:r>
              <a:t>Pandas turns raw, messy data into clean, structured DataFrames in just a few lines of code.</a:t>
            </a:r>
          </a:p>
        </p:txBody>
      </p:sp>
      <p:sp>
        <p:nvSpPr>
          <p:cNvPr id="168" name="Shape 7"/>
          <p:cNvSpPr/>
          <p:nvPr/>
        </p:nvSpPr>
        <p:spPr>
          <a:xfrm>
            <a:off x="640080" y="2880360"/>
            <a:ext cx="502921" cy="502921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8"/>
          <p:cNvSpPr txBox="1"/>
          <p:nvPr/>
        </p:nvSpPr>
        <p:spPr>
          <a:xfrm>
            <a:off x="640080" y="2998469"/>
            <a:ext cx="50292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014F5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0" name="Text 9"/>
          <p:cNvSpPr txBox="1"/>
          <p:nvPr/>
        </p:nvSpPr>
        <p:spPr>
          <a:xfrm>
            <a:off x="1463039" y="2807207"/>
            <a:ext cx="978408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1600">
                <a:solidFill>
                  <a:srgbClr val="E9F7F5"/>
                </a:solidFill>
              </a:defRPr>
            </a:lvl1pPr>
          </a:lstStyle>
          <a:p>
            <a:pPr/>
            <a:r>
              <a:t>A small set of core functions — read_csv, head, info, dropna, sort_values — covers most real-world workflows.</a:t>
            </a:r>
          </a:p>
        </p:txBody>
      </p:sp>
      <p:sp>
        <p:nvSpPr>
          <p:cNvPr id="171" name="Shape 10"/>
          <p:cNvSpPr/>
          <p:nvPr/>
        </p:nvSpPr>
        <p:spPr>
          <a:xfrm>
            <a:off x="640080" y="3931920"/>
            <a:ext cx="502921" cy="502921"/>
          </a:xfrm>
          <a:prstGeom prst="ellipse">
            <a:avLst/>
          </a:prstGeom>
          <a:solidFill>
            <a:srgbClr val="02C39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1"/>
          <p:cNvSpPr txBox="1"/>
          <p:nvPr/>
        </p:nvSpPr>
        <p:spPr>
          <a:xfrm>
            <a:off x="640080" y="4050029"/>
            <a:ext cx="50292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014F53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3" name="Text 12"/>
          <p:cNvSpPr txBox="1"/>
          <p:nvPr/>
        </p:nvSpPr>
        <p:spPr>
          <a:xfrm>
            <a:off x="1463039" y="3858767"/>
            <a:ext cx="9784082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1600">
                <a:solidFill>
                  <a:srgbClr val="E9F7F5"/>
                </a:solidFill>
              </a:defRPr>
            </a:lvl1pPr>
          </a:lstStyle>
          <a:p>
            <a:pPr/>
            <a:r>
              <a:t>It’s the essential first step before visualization, statistics, or machine learning.</a:t>
            </a:r>
          </a:p>
        </p:txBody>
      </p:sp>
      <p:sp>
        <p:nvSpPr>
          <p:cNvPr id="174" name="Shape 13"/>
          <p:cNvSpPr/>
          <p:nvPr/>
        </p:nvSpPr>
        <p:spPr>
          <a:xfrm>
            <a:off x="640080" y="5349240"/>
            <a:ext cx="10881361" cy="1"/>
          </a:xfrm>
          <a:prstGeom prst="line">
            <a:avLst/>
          </a:prstGeom>
          <a:ln w="12700">
            <a:solidFill>
              <a:srgbClr val="2E7A7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14"/>
          <p:cNvSpPr txBox="1"/>
          <p:nvPr/>
        </p:nvSpPr>
        <p:spPr>
          <a:xfrm>
            <a:off x="45719" y="5679440"/>
            <a:ext cx="12070082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700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Pandas: the foundation of every data science workflow in Python.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